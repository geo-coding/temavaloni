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4" r:id="rId4"/>
    <p:sldId id="266" r:id="rId5"/>
    <p:sldId id="257" r:id="rId6"/>
    <p:sldId id="260" r:id="rId7"/>
    <p:sldId id="262" r:id="rId8"/>
    <p:sldId id="263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0E755-B40F-4102-99ED-1F2421AEEE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890AB1-A427-4B77-8414-BA662DE617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B645DF-BBC6-48A3-B7ED-00B5CBFE0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011A-DD1D-4FC0-8431-80EE5BF89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5AA06-3785-4755-9451-37587D885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369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0885C-396A-4987-BA21-30F559431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E1E22-0B2A-416E-99DD-0324E171A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2700E-09E8-4CED-B62F-1329F9F9E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C8B21-908E-48C8-836D-14082D756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80DAE5-0A35-4DA8-B1A9-E703EA618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438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5A85A-DF14-4DA2-835E-A70550903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038338-6C4A-49F0-8AD5-D2A78F1A3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5CEB9A-87CD-4956-8A61-9B4DE3B5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326E0-C464-4DAE-A131-09D6AEE15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CD0030-F1F9-4A38-A04F-7071D836E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8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777AF-16E4-4099-A3EB-F132B2170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A36D0-AE27-405E-B24F-2F1C3775BE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C78F2A-7B08-4F31-A41C-7A9483A3C3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66CE1E-6271-4FF2-9E1F-E7ECACFC6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21F1B5-9E2C-4084-8381-EEA2E828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A97374-0794-4EBB-AF0E-044B47F58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740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952E2-E812-476C-9473-A9ED66922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02D42-885A-41E0-8E1A-1F29B0313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59C28F-37EE-4C12-A5AC-0276AF388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049F70-47D3-409C-95D1-B77BB65F9E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FF2047-13E7-45CF-AABE-BDAB9B2ECD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AE636B-EAAA-47B8-B2F0-EE8AB7000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DE5F19-D9BB-4B32-A265-404004243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F48063-A18D-41C2-BF75-49C315E62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093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ED522-2EA3-436A-978E-C6CFE0A17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93D376-7E5D-4897-B53A-632BFCCB2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2D9723-B4D3-4207-B805-FC18CC526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B480E-875E-4327-9CFD-208BC38BC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DD2145-730B-431A-90BC-45D0EABD2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9B3457-0278-4A33-88AC-48D9B081F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8DBE6-B9FE-405C-ADC0-D7794DEEB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035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BCCEB-82CC-42FD-ABFC-DA05CD278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1DD74-269D-4511-BB24-B6422CB57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5EB224-7FD6-456B-8358-8CBC29ACAE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BCA459-EBE3-4592-BA2F-247F4D8B2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E7C6D2-EE0F-45AF-BB6C-FF46C1BA3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BB92A-106C-453F-BA04-448FF1C87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919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1D36B-7224-4256-9619-996FDEF9B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E88FB9-2BC9-4B98-8E51-65FD3AD05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C61B05-57E3-442C-80C3-81E25961C0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84B7F8-A0C6-4E02-8B64-60E09B0A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5BB885-516F-462B-9BB4-576123930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13E7FE-83A6-4D57-B6D3-47B3C9B84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635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213E6-A36F-414E-B73A-339F6A056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E16BE0-B137-4A7E-9BC2-9A73421380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E1D84-4D75-4A60-9290-276B31048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0DBC2-CF4B-4A23-8BD1-1DBCC702F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D887F-207F-4547-B909-8CD0762A1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329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6FA111-CB88-4720-A24F-6E94CABB28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290719-8C0E-4F15-83C9-EDC3D6F5C7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71FD1-DB74-49F7-B301-8D0464D40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9B0A-3237-420D-965D-CD20C911ADA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1A098-86E8-47A5-827C-75477A40E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698FF-0D75-4981-BA20-8B995C950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404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D7210E-CD7F-4A7E-A9F8-1EB4BF7DB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7C75F3-57D7-4EEE-8AE1-59B268A4E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6B95E-6F01-498F-BCD1-610C4623CA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F29B0A-3237-420D-965D-CD20C911ADA0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0ED25-76A2-4D50-9572-1C70F4704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F56CE-2526-467C-8116-0E0F79C99B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B6169-46FF-4C3E-AC71-4A1ACAE9C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65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39C57-2F5E-409D-88A8-972BFE957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72987"/>
            <a:ext cx="9144000" cy="1623507"/>
          </a:xfrm>
        </p:spPr>
        <p:txBody>
          <a:bodyPr>
            <a:normAutofit/>
          </a:bodyPr>
          <a:lstStyle/>
          <a:p>
            <a:r>
              <a:rPr lang="sq-AL" sz="2200" b="1" dirty="0"/>
              <a:t>UNIVERSITETI I PRISHTINËS</a:t>
            </a:r>
            <a:br>
              <a:rPr lang="en-US" sz="2200" dirty="0"/>
            </a:br>
            <a:r>
              <a:rPr lang="sq-AL" sz="2200" dirty="0"/>
              <a:t>FAKULTETI I INXHINIERISË SË NDËRTIMIT</a:t>
            </a:r>
            <a:br>
              <a:rPr lang="en-US" dirty="0"/>
            </a:br>
            <a:br>
              <a:rPr lang="en-US" sz="2200" dirty="0"/>
            </a:br>
            <a:r>
              <a:rPr lang="sq-AL" sz="2200" dirty="0"/>
              <a:t>Departamenti për Gjeodezi, Gjeoinformacion, Observimet e Tokës dhe Hapësirës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1FE6E-1A84-4E00-90CF-E5BCAC5BB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1817" y="3259667"/>
            <a:ext cx="10448365" cy="3268134"/>
          </a:xfrm>
        </p:spPr>
        <p:txBody>
          <a:bodyPr>
            <a:normAutofit fontScale="55000" lnSpcReduction="20000"/>
          </a:bodyPr>
          <a:lstStyle/>
          <a:p>
            <a:br>
              <a:rPr lang="en-US" sz="3800" dirty="0"/>
            </a:br>
            <a:r>
              <a:rPr lang="en-US" sz="3800" dirty="0"/>
              <a:t> </a:t>
            </a:r>
            <a:r>
              <a:rPr lang="sq-AL" sz="3800" dirty="0"/>
              <a:t>PUNIM DIPLOME</a:t>
            </a:r>
            <a:r>
              <a:rPr lang="en-US" sz="3800" dirty="0"/>
              <a:t> </a:t>
            </a:r>
          </a:p>
          <a:p>
            <a:br>
              <a:rPr lang="en-US" sz="3800" dirty="0"/>
            </a:br>
            <a:endParaRPr lang="en-US" sz="3800" dirty="0"/>
          </a:p>
          <a:p>
            <a:r>
              <a:rPr lang="sq-AL" sz="3800" dirty="0"/>
              <a:t>TEMA:  Modelimi i të dhënave dhe krijimi i hartës digjitale për rrjetin e ujësjellësit</a:t>
            </a:r>
            <a:br>
              <a:rPr lang="en-US" b="1" dirty="0"/>
            </a:br>
            <a:endParaRPr lang="en-US" b="1" dirty="0"/>
          </a:p>
          <a:p>
            <a:endParaRPr lang="en-US" b="1" dirty="0"/>
          </a:p>
          <a:p>
            <a:endParaRPr lang="en-US" dirty="0"/>
          </a:p>
          <a:p>
            <a:r>
              <a:rPr lang="sq-AL" sz="3300" dirty="0"/>
              <a:t> KANDIDATI:								           MENTORI</a:t>
            </a:r>
            <a:r>
              <a:rPr lang="en-US" sz="3300" dirty="0"/>
              <a:t>: </a:t>
            </a:r>
            <a:br>
              <a:rPr lang="en-US" sz="3300" dirty="0"/>
            </a:br>
            <a:r>
              <a:rPr lang="en-US" sz="3300" dirty="0"/>
              <a:t> </a:t>
            </a:r>
            <a:r>
              <a:rPr lang="sq-AL" sz="3300" dirty="0"/>
              <a:t>Valon Sejdiu         	</a:t>
            </a:r>
            <a:r>
              <a:rPr lang="en-US" sz="3300" dirty="0"/>
              <a:t>                                                                                                            </a:t>
            </a:r>
            <a:r>
              <a:rPr lang="sq-AL" sz="3300" dirty="0"/>
              <a:t>Prof.Ass</a:t>
            </a:r>
            <a:r>
              <a:rPr lang="en-US" sz="3300" dirty="0"/>
              <a:t>t</a:t>
            </a:r>
            <a:r>
              <a:rPr lang="sq-AL" sz="3300" dirty="0"/>
              <a:t>.Dr. Besim Ajvazi</a:t>
            </a:r>
            <a:br>
              <a:rPr lang="sq-AL" sz="3300" b="1" dirty="0"/>
            </a:br>
            <a:r>
              <a:rPr lang="en-US" sz="3300" b="1" dirty="0"/>
              <a:t>         </a:t>
            </a:r>
            <a:br>
              <a:rPr lang="sq-AL" sz="3300" b="1" dirty="0"/>
            </a:br>
            <a:br>
              <a:rPr lang="sq-AL" sz="3300" b="1" dirty="0"/>
            </a:br>
            <a:r>
              <a:rPr lang="sq-AL" sz="3300" dirty="0"/>
              <a:t>Prishtinë, Shkurt 2026</a:t>
            </a:r>
            <a:endParaRPr lang="en-US" sz="3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53F273-38F4-4587-BAE3-D4603776A00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118223" y="0"/>
            <a:ext cx="2109647" cy="1272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572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762F4-3FC4-4D8C-BA66-DEFA51526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0235"/>
          </a:xfrm>
        </p:spPr>
        <p:txBody>
          <a:bodyPr>
            <a:normAutofit/>
          </a:bodyPr>
          <a:lstStyle/>
          <a:p>
            <a:r>
              <a:rPr lang="sq-AL" sz="1800" b="1" dirty="0">
                <a:latin typeface="+mn-lt"/>
              </a:rPr>
              <a:t>Përmbajtja</a:t>
            </a:r>
            <a:endParaRPr lang="en-US" sz="1800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BB600-3617-41F8-9012-5FB1E9E5C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22020"/>
            <a:ext cx="9723120" cy="5440680"/>
          </a:xfrm>
        </p:spPr>
        <p:txBody>
          <a:bodyPr>
            <a:normAutofit fontScale="25000" lnSpcReduction="20000"/>
          </a:bodyPr>
          <a:lstStyle/>
          <a:p>
            <a:pPr marL="457200" lvl="1" indent="0">
              <a:buNone/>
            </a:pPr>
            <a:b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Hyrje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......…………...............................................................................................................      3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Problematika e menaxhimit të ujërave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4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2.1 Kadastri i përqojave të ujësjellësit në Kosovë 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4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Qëllimi dhe objektivat e punimit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      5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3.1 Qëllimi i punimit ..............................................................................................................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3.2 Objektivat e punimit ........................................................................................................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Grumbullimi i të dhënave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6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4.1 Të dhënat primare ...........................................................................................................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6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4.2 Të dhënat sekondare .......................................................................................................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6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Modelimi i të dhënave dhe klasifikimi i komponenteve të sistemit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8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5.1 Grupi i par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ë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Të dhënat e rrjetit ujësjellësit 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9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5.1.1 Të dhënat teknike të rrjetit të ujësjellësit 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     9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5.2 Grupi i dy</a:t>
            </a:r>
            <a:r>
              <a:rPr lang="en-US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Të dhënat për ndërtesat, shtëpitë dhe konsumatorët ose pronarët ...............      17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5.2.1 Ndërtesat dhe shtëpitë së bashku me konsumatorët ose pronarët 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17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5.3 Grupi i tretë: Të dhënat e rrugëve dhe orientimit territorial .............................................       22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5.3.1 Të dhënat e rrugëve 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23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Krijimi i hartave digjitale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     25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6.1 Modelimi i shenjave hartografike 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 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26            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6.2 Dimenzionimi i shenjave hartografike 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     26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6.3 Modelimi i numrave dhe shkronjave 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   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27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Simbologjia e përdorur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  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7.1 Simbolet poligonale (objekte ndërtimore) 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7.2 Simbolet lineare të rrjetit të gypave 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31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7.3 Simbolet e ujëmatësve 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     33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8. Rezultatet dhe përfundimet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    38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9. Shtojcat 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    41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9.1 Shtojca 1: Rrjeti i ujësjellësit Ferizaj (Lagjja e Re) 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42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9.2 Shtojca 2: Rrjeti i ujësjellësit Ferizaj (Lagjja e Re) Harta e humbjeve 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      43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9.3 Shtojca 3: Rrjeti i ujësjellësit Ferizaj (Lagjja e Re) Harta e borgjeve 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44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9.3 Shtojca 4: Rrjeti i ujësjellësit Ferizaj (Lagjja e Re) Harta e përdorimit 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45</a:t>
            </a:r>
            <a:b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q-AL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10. Literatura 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........................................................................................................................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....</a:t>
            </a:r>
            <a:r>
              <a:rPr lang="sq-AL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    46</a:t>
            </a:r>
            <a:br>
              <a:rPr lang="sq-AL" dirty="0"/>
            </a:br>
            <a:r>
              <a:rPr lang="sq-AL" dirty="0"/>
              <a:t>        </a:t>
            </a:r>
            <a:endParaRPr lang="en-US" dirty="0"/>
          </a:p>
          <a:p>
            <a:pPr marL="0" indent="0">
              <a:buNone/>
            </a:pPr>
            <a:br>
              <a:rPr lang="sq-AL" dirty="0"/>
            </a:br>
            <a:r>
              <a:rPr lang="sq-AL" dirty="0"/>
              <a:t>     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5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88C77-35B6-4E66-B02C-AEF7EBFDE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q-AL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Përmbajtja</a:t>
            </a: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840AFE-B3E2-4AE0-A709-018B60F648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 marL="457200" indent="-457200">
              <a:buAutoNum type="alphaLcParenR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Pjesa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parë</a:t>
            </a:r>
            <a:br>
              <a:rPr lang="en-US" dirty="0"/>
            </a:br>
            <a:r>
              <a:rPr lang="en-US" dirty="0"/>
              <a:t>   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sq-AL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Problematika e menaxhimit të ujësjellësit </a:t>
            </a:r>
            <a:br>
              <a:rPr lang="en-US" sz="1200" dirty="0"/>
            </a:br>
            <a:r>
              <a:rPr lang="en-US" sz="1200" dirty="0"/>
              <a:t>       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</a:t>
            </a:r>
            <a:r>
              <a:rPr lang="sq-AL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Qëllimi dhe objektivat e punimit 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AutoNum type="alphaLcParenR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Pjesa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dytë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3.Grumbullimi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dhënave</a:t>
            </a: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4</a:t>
            </a:r>
            <a:r>
              <a:rPr lang="sq-AL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Modelimi i të dhënave dhe klasifikimi i komponenteve të sistemit 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c)   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Pjesa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tretë</a:t>
            </a: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</a:t>
            </a: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5.</a:t>
            </a:r>
            <a:r>
              <a:rPr lang="sq-AL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Krijimi i hartave digjitale </a:t>
            </a: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6.</a:t>
            </a:r>
            <a:r>
              <a:rPr lang="sq-AL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Simbologjia e përdorur </a:t>
            </a: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d)    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Pjesa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katërt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q-AL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Rezultatet dhe përfundimet</a:t>
            </a: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8.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Shtojcat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Hartat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9.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Literatura</a:t>
            </a: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877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7D315-D284-43E5-8F20-D0F96629C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9162" y="271777"/>
            <a:ext cx="4393676" cy="568129"/>
          </a:xfrm>
        </p:spPr>
        <p:txBody>
          <a:bodyPr>
            <a:noAutofit/>
          </a:bodyPr>
          <a:lstStyle/>
          <a:p>
            <a:pPr algn="ctr"/>
            <a:r>
              <a:rPr lang="sq-AL" sz="25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Përmbajtja</a:t>
            </a:r>
            <a:r>
              <a:rPr lang="en-US" sz="25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500" b="1" u="sng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B987507-9C5E-4ADB-B32F-EB12EA54B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57" y="839906"/>
            <a:ext cx="9744286" cy="595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12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BB08C-54B8-491D-8024-E494A0AA3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 err="1"/>
              <a:t>Kapitulli</a:t>
            </a:r>
            <a:r>
              <a:rPr lang="en-US" sz="2000" b="1" dirty="0"/>
              <a:t> 1: </a:t>
            </a:r>
            <a:r>
              <a:rPr lang="en-US" sz="2000" b="1" dirty="0" err="1"/>
              <a:t>Hyrje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A85FE-4250-4F5F-B465-EA36DEC9B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0918"/>
            <a:ext cx="10618694" cy="488604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/>
              <a:t>   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Menaxhimi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burimeve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ujore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përfaqëson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sfidat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komplekse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strategjike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shoqërisë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bashkëkohore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Uji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pijshëm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është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burim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jetik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jetën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njerëzore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zhvillimin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ekonomik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stabilitetin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social.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këtë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kontekst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infrastruktura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ujësjellësit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përbën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kritik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publik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cili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kërkon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menaxhim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kujdesshëm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monitorim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vazhdueshëm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mirëmbajtje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afatgjatë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shumë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vende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zhvillim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përfshirë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rajonin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Ballkanit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ujësjellësit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karakterizohen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rrjete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vjetruara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dokumentacion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plotë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teknik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humbje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larta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vështirësi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serioze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procesin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inkasimit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Mungesa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kadastri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digjital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azhurnuar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bën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vështirë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identifikimin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problemeve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rrjet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planifikimin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efikas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investimeve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Zhvillimi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gjeoshkencave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veçanërisht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Sistemeve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Informacionit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Gjeografik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(GIS), ka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hapur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perspektiva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reja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menaxhimin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modern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infrastrukturës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ujore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Web GIS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aplikacionet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ofrojnë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mundësinë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integrimit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dhënave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hapësinore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teknike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financiare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vetme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aksesueshme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kohë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përdorues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ndryshëm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Kjo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temë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diplome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fokusohet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dhënave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krijimin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harte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digjitale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rrjetin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ujësjellësit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bazë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cilës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kanë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derivuar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hartat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tjera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përgaditur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duke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përdorur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mjete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GIS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vizualizimin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dhënave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hapësinore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atributive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Përmes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këtij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procesi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mundësohet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pasqyrë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elementeve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rrjetit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tubacionet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nyjet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konsumatorët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duke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krijuar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bazë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qëndrueshme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për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menaxhim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mirëmbajtje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dhe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planifikim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mëtejshëm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të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ujësjellësit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8313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F325B-2F7A-47E3-A4C9-C38C37AA8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q-AL" b="1" dirty="0"/>
              <a:t>Modelimi i të Dhënave dhe Klasifikimi i Komponenteve të Sistemit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32AB6-E67E-4E01-9D71-813161D95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q-AL" b="1" dirty="0"/>
              <a:t>Modelimi i të Dhënave dhe Klasifikimi i Komponenteve të Sistemit</a:t>
            </a:r>
            <a:br>
              <a:rPr lang="en-US" b="1" dirty="0"/>
            </a:br>
            <a:r>
              <a:rPr lang="sq-AL" dirty="0"/>
              <a:t>Të dhënat e rrugëve </a:t>
            </a:r>
            <a:br>
              <a:rPr lang="en-US" dirty="0"/>
            </a:br>
            <a:r>
              <a:rPr lang="en-US" dirty="0"/>
              <a:t>N</a:t>
            </a:r>
            <a:r>
              <a:rPr lang="sq-AL" dirty="0"/>
              <a:t>dërtesat</a:t>
            </a:r>
            <a:r>
              <a:rPr lang="en-US" dirty="0"/>
              <a:t> / S</a:t>
            </a:r>
            <a:r>
              <a:rPr lang="sq-AL" dirty="0"/>
              <a:t>htëpitë</a:t>
            </a:r>
            <a:br>
              <a:rPr lang="en-US" dirty="0"/>
            </a:br>
            <a:r>
              <a:rPr lang="sq-AL" dirty="0"/>
              <a:t>konsumatorët ose pronarët  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30171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">
            <a:extLst>
              <a:ext uri="{FF2B5EF4-FFF2-40B4-BE49-F238E27FC236}">
                <a16:creationId xmlns:a16="http://schemas.microsoft.com/office/drawing/2014/main" id="{533AE1F9-EA20-4A3F-85BD-0FAE2101D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16057" y="480980"/>
            <a:ext cx="9473939" cy="6377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436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39C57-2F5E-409D-88A8-972BFE957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0039"/>
            <a:ext cx="9144000" cy="2387600"/>
          </a:xfrm>
        </p:spPr>
        <p:txBody>
          <a:bodyPr>
            <a:normAutofit/>
          </a:bodyPr>
          <a:lstStyle/>
          <a:p>
            <a:r>
              <a:rPr lang="sq-AL" sz="2200" b="1" dirty="0"/>
              <a:t>UNIVERSITETI I PRISHTINËS "HASAN PRISHTINA"</a:t>
            </a:r>
            <a:br>
              <a:rPr lang="en-US" sz="2200" dirty="0"/>
            </a:br>
            <a:r>
              <a:rPr lang="sq-AL" sz="2200" b="1" dirty="0"/>
              <a:t>FAKULTETI I NDËRTIMTARISË</a:t>
            </a:r>
            <a:br>
              <a:rPr lang="en-US" sz="2200" dirty="0"/>
            </a:br>
            <a:r>
              <a:rPr lang="sq-AL" sz="2200" dirty="0"/>
              <a:t>Departamenti:</a:t>
            </a:r>
            <a:r>
              <a:rPr lang="sq-AL" sz="2200" b="1" dirty="0"/>
              <a:t> GJEODEZI</a:t>
            </a:r>
            <a:br>
              <a:rPr lang="en-US" sz="2200" dirty="0"/>
            </a:br>
            <a:r>
              <a:rPr lang="sq-AL" sz="2200" dirty="0"/>
              <a:t>(Studime Bachelor)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1FE6E-1A84-4E00-90CF-E5BCAC5BB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1801907"/>
            <a:ext cx="10448365" cy="4670612"/>
          </a:xfrm>
        </p:spPr>
        <p:txBody>
          <a:bodyPr>
            <a:normAutofit fontScale="55000" lnSpcReduction="20000"/>
          </a:bodyPr>
          <a:lstStyle/>
          <a:p>
            <a:br>
              <a:rPr lang="en-US" sz="3800" dirty="0"/>
            </a:br>
            <a:br>
              <a:rPr lang="en-US" sz="3800" dirty="0"/>
            </a:br>
            <a:br>
              <a:rPr lang="en-US" sz="3800" dirty="0"/>
            </a:br>
            <a:br>
              <a:rPr lang="en-US" sz="3800" dirty="0"/>
            </a:br>
            <a:endParaRPr lang="en-US" sz="3800" dirty="0"/>
          </a:p>
          <a:p>
            <a:br>
              <a:rPr lang="en-US" sz="3800" dirty="0"/>
            </a:br>
            <a:r>
              <a:rPr lang="en-US" sz="3800" dirty="0"/>
              <a:t>- </a:t>
            </a:r>
            <a:r>
              <a:rPr lang="sq-AL" sz="3800" dirty="0"/>
              <a:t>PUNIM DIPLOME</a:t>
            </a:r>
            <a:r>
              <a:rPr lang="en-US" sz="3800" dirty="0"/>
              <a:t> -</a:t>
            </a:r>
          </a:p>
          <a:p>
            <a:br>
              <a:rPr lang="en-US" sz="3800" dirty="0"/>
            </a:br>
            <a:r>
              <a:rPr lang="sq-AL" sz="3800" dirty="0"/>
              <a:t>LËNDA:  Orientimi dhe modelimi i objekteve gjeohapësinore</a:t>
            </a:r>
            <a:endParaRPr lang="en-US" sz="3800" dirty="0"/>
          </a:p>
          <a:p>
            <a:r>
              <a:rPr lang="sq-AL" sz="3800" dirty="0"/>
              <a:t>TEMA:  Modelimi i të dhënave dhe krijimi i hartës digjitale për rrjetin e ujësjellësit</a:t>
            </a:r>
            <a:br>
              <a:rPr lang="en-US" b="1" dirty="0"/>
            </a:br>
            <a:endParaRPr lang="en-US" b="1" dirty="0"/>
          </a:p>
          <a:p>
            <a:endParaRPr lang="en-US" b="1" dirty="0"/>
          </a:p>
          <a:p>
            <a:endParaRPr lang="en-US" dirty="0"/>
          </a:p>
          <a:p>
            <a:r>
              <a:rPr lang="sq-AL" sz="3300" b="1" dirty="0"/>
              <a:t> KANDIDATI:								           MENTORI</a:t>
            </a:r>
            <a:r>
              <a:rPr lang="en-US" sz="3300" b="1" dirty="0"/>
              <a:t>: </a:t>
            </a:r>
            <a:br>
              <a:rPr lang="en-US" sz="3300" b="1" dirty="0"/>
            </a:br>
            <a:r>
              <a:rPr lang="en-US" sz="3300" b="1" dirty="0"/>
              <a:t> </a:t>
            </a:r>
            <a:r>
              <a:rPr lang="sq-AL" sz="3300" b="1" dirty="0"/>
              <a:t>Valon Sejdiu         	</a:t>
            </a:r>
            <a:r>
              <a:rPr lang="en-US" sz="3300" b="1" dirty="0"/>
              <a:t>                                                                                                            </a:t>
            </a:r>
            <a:r>
              <a:rPr lang="sq-AL" sz="3300" b="1" dirty="0"/>
              <a:t>Prof.Ass.Dr. Besim Ajvazi</a:t>
            </a:r>
            <a:br>
              <a:rPr lang="sq-AL" sz="3300" b="1" dirty="0"/>
            </a:br>
            <a:r>
              <a:rPr lang="en-US" sz="3300" b="1" dirty="0"/>
              <a:t>         </a:t>
            </a:r>
            <a:br>
              <a:rPr lang="sq-AL" sz="3300" b="1" dirty="0"/>
            </a:br>
            <a:br>
              <a:rPr lang="sq-AL" sz="3300" b="1" dirty="0"/>
            </a:br>
            <a:r>
              <a:rPr lang="sq-AL" sz="3300" dirty="0"/>
              <a:t>Prishtinë, Shkurt 2026</a:t>
            </a:r>
            <a:endParaRPr lang="en-US" sz="3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53F273-38F4-4587-BAE3-D4603776A00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990400" y="1801907"/>
            <a:ext cx="2109647" cy="127298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571C62-168C-409B-9BB7-E2FE26947B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638" y="0"/>
            <a:ext cx="116827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20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120C14-2D0D-4010-B392-5C95B5F766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1980F2D-C61E-4568-8850-46666ABE00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A0B3E-1EFE-4709-AB0F-CDDDC06E1277}"/>
              </a:ext>
            </a:extLst>
          </p:cNvPr>
          <p:cNvSpPr txBox="1"/>
          <p:nvPr/>
        </p:nvSpPr>
        <p:spPr>
          <a:xfrm>
            <a:off x="821703" y="2274838"/>
            <a:ext cx="105485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7200" spc="600" dirty="0">
                <a:latin typeface="Call Of Ops Duty" panose="020005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7200" b="1" spc="600" dirty="0">
                <a:latin typeface="Call Of Ops Duty" panose="02000500000000000000" pitchFamily="2" charset="0"/>
                <a:cs typeface="Times New Roman" panose="02020603050405020304" pitchFamily="18" charset="0"/>
              </a:rPr>
              <a:t>JU FALEMINDERIT </a:t>
            </a:r>
            <a:r>
              <a:rPr lang="en-US" sz="7200" b="1" spc="600" dirty="0" err="1">
                <a:latin typeface="Call Of Ops Duty" panose="02000500000000000000" pitchFamily="2" charset="0"/>
                <a:cs typeface="Times New Roman" panose="02020603050405020304" pitchFamily="18" charset="0"/>
              </a:rPr>
              <a:t>PeR</a:t>
            </a:r>
            <a:r>
              <a:rPr lang="en-US" sz="7200" b="1" spc="600" dirty="0">
                <a:latin typeface="Call Of Ops Duty" panose="020005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7200" b="1" spc="600" dirty="0" err="1">
                <a:latin typeface="Call Of Ops Duty" panose="02000500000000000000" pitchFamily="2" charset="0"/>
                <a:cs typeface="Times New Roman" panose="02020603050405020304" pitchFamily="18" charset="0"/>
              </a:rPr>
              <a:t>VeMENDJEN</a:t>
            </a:r>
            <a:r>
              <a:rPr lang="en-US" sz="7200" b="1" spc="600" dirty="0">
                <a:latin typeface="Call Of Ops Duty" panose="02000500000000000000" pitchFamily="2" charset="0"/>
                <a:cs typeface="Times New Roman" panose="02020603050405020304" pitchFamily="18" charset="0"/>
              </a:rPr>
              <a:t> TUAJ.</a:t>
            </a:r>
            <a:endParaRPr lang="en-US" sz="9600" b="1" spc="600" dirty="0">
              <a:latin typeface="Call Of Ops Duty" panose="02000500000000000000" pitchFamily="2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38810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9702</TotalTime>
  <Words>978</Words>
  <Application>Microsoft Office PowerPoint</Application>
  <PresentationFormat>Widescreen</PresentationFormat>
  <Paragraphs>39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Call Of Ops Duty</vt:lpstr>
      <vt:lpstr>Times New Roman</vt:lpstr>
      <vt:lpstr>Office Theme</vt:lpstr>
      <vt:lpstr>UNIVERSITETI I PRISHTINËS FAKULTETI I INXHINIERISË SË NDËRTIMIT  Departamenti për Gjeodezi, Gjeoinformacion, Observimet e Tokës dhe Hapësirës</vt:lpstr>
      <vt:lpstr>Përmbajtja</vt:lpstr>
      <vt:lpstr>Përmbajtja</vt:lpstr>
      <vt:lpstr>Përmbajtja:</vt:lpstr>
      <vt:lpstr>Kapitulli 1: Hyrje </vt:lpstr>
      <vt:lpstr>Modelimi i të Dhënave dhe Klasifikimi i Komponenteve të Sistemit</vt:lpstr>
      <vt:lpstr>PowerPoint Presentation</vt:lpstr>
      <vt:lpstr>UNIVERSITETI I PRISHTINËS "HASAN PRISHTINA" FAKULTETI I NDËRTIMTARISË Departamenti: GJEODEZI (Studime Bachelor)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UNIVERSITETI I PRISHTINËS "HASAN PRISHTINA" FAKULTETI I NDËRTIMTARISË Departamenti: GJEODEZI (Studime Bachelor)</dc:title>
  <dc:creator>Valon Sejdiu</dc:creator>
  <cp:lastModifiedBy>Valon Sejdiu</cp:lastModifiedBy>
  <cp:revision>35</cp:revision>
  <dcterms:created xsi:type="dcterms:W3CDTF">2026-01-23T15:11:57Z</dcterms:created>
  <dcterms:modified xsi:type="dcterms:W3CDTF">2026-02-10T23:21:10Z</dcterms:modified>
</cp:coreProperties>
</file>