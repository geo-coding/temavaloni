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-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0E755-B40F-4102-99ED-1F2421AEE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890AB1-A427-4B77-8414-BA662DE61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645DF-BBC6-48A3-B7ED-00B5CBFE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9B0A-3237-420D-965D-CD20C911ADA0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011A-DD1D-4FC0-8431-80EE5BF8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5AA06-3785-4755-9451-37587D885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B6169-46FF-4C3E-AC71-4A1ACAE9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69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0885C-396A-4987-BA21-30F559431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E1E22-0B2A-416E-99DD-0324E171A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2700E-09E8-4CED-B62F-1329F9F9E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9B0A-3237-420D-965D-CD20C911ADA0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C8B21-908E-48C8-836D-14082D756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0DAE5-0A35-4DA8-B1A9-E703EA618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B6169-46FF-4C3E-AC71-4A1ACAE9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438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5A85A-DF14-4DA2-835E-A70550903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38338-6C4A-49F0-8AD5-D2A78F1A3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CEB9A-87CD-4956-8A61-9B4DE3B5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9B0A-3237-420D-965D-CD20C911ADA0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326E0-C464-4DAE-A131-09D6AEE1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D0030-F1F9-4A38-A04F-7071D836E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B6169-46FF-4C3E-AC71-4A1ACAE9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48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777AF-16E4-4099-A3EB-F132B2170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A36D0-AE27-405E-B24F-2F1C3775B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C78F2A-7B08-4F31-A41C-7A9483A3C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6CE1E-6271-4FF2-9E1F-E7ECACFC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9B0A-3237-420D-965D-CD20C911ADA0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1F1B5-9E2C-4084-8381-EEA2E8288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97374-0794-4EBB-AF0E-044B47F5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B6169-46FF-4C3E-AC71-4A1ACAE9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40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952E2-E812-476C-9473-A9ED6692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02D42-885A-41E0-8E1A-1F29B0313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59C28F-37EE-4C12-A5AC-0276AF388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049F70-47D3-409C-95D1-B77BB65F9E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FF2047-13E7-45CF-AABE-BDAB9B2ECD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AE636B-EAAA-47B8-B2F0-EE8AB7000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9B0A-3237-420D-965D-CD20C911ADA0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DE5F19-D9BB-4B32-A265-404004243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F48063-A18D-41C2-BF75-49C315E62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B6169-46FF-4C3E-AC71-4A1ACAE9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93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ED522-2EA3-436A-978E-C6CFE0A1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93D376-7E5D-4897-B53A-632BFCCB2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9B0A-3237-420D-965D-CD20C911ADA0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D9723-B4D3-4207-B805-FC18CC526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B480E-875E-4327-9CFD-208BC38BC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B6169-46FF-4C3E-AC71-4A1ACAE9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2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DD2145-730B-431A-90BC-45D0EABD2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9B0A-3237-420D-965D-CD20C911ADA0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9B3457-0278-4A33-88AC-48D9B081F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8DBE6-B9FE-405C-ADC0-D7794DEEB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B6169-46FF-4C3E-AC71-4A1ACAE9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035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BCCEB-82CC-42FD-ABFC-DA05CD278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1DD74-269D-4511-BB24-B6422CB57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EB224-7FD6-456B-8358-8CBC29ACA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CA459-EBE3-4592-BA2F-247F4D8B2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9B0A-3237-420D-965D-CD20C911ADA0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C6D2-EE0F-45AF-BB6C-FF46C1BA3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BB92A-106C-453F-BA04-448FF1C87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B6169-46FF-4C3E-AC71-4A1ACAE9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19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1D36B-7224-4256-9619-996FDEF9B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E88FB9-2BC9-4B98-8E51-65FD3AD05B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61B05-57E3-442C-80C3-81E25961C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4B7F8-A0C6-4E02-8B64-60E09B0A0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9B0A-3237-420D-965D-CD20C911ADA0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BB885-516F-462B-9BB4-576123930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13E7FE-83A6-4D57-B6D3-47B3C9B8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B6169-46FF-4C3E-AC71-4A1ACAE9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3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213E6-A36F-414E-B73A-339F6A056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E16BE0-B137-4A7E-9BC2-9A7342138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E1D84-4D75-4A60-9290-276B31048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9B0A-3237-420D-965D-CD20C911ADA0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0DBC2-CF4B-4A23-8BD1-1DBCC702F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D887F-207F-4547-B909-8CD0762A1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B6169-46FF-4C3E-AC71-4A1ACAE9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2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6FA111-CB88-4720-A24F-6E94CABB2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290719-8C0E-4F15-83C9-EDC3D6F5C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71FD1-DB74-49F7-B301-8D0464D40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9B0A-3237-420D-965D-CD20C911ADA0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1A098-86E8-47A5-827C-75477A40E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698FF-0D75-4981-BA20-8B995C950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B6169-46FF-4C3E-AC71-4A1ACAE9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04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D7210E-CD7F-4A7E-A9F8-1EB4BF7DB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C75F3-57D7-4EEE-8AE1-59B268A4E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6B95E-6F01-498F-BCD1-610C4623CA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29B0A-3237-420D-965D-CD20C911ADA0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0ED25-76A2-4D50-9572-1C70F4704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F56CE-2526-467C-8116-0E0F79C99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B6169-46FF-4C3E-AC71-4A1ACAE9C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65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39C57-2F5E-409D-88A8-972BFE957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0039"/>
            <a:ext cx="9144000" cy="2387600"/>
          </a:xfrm>
        </p:spPr>
        <p:txBody>
          <a:bodyPr>
            <a:normAutofit/>
          </a:bodyPr>
          <a:lstStyle/>
          <a:p>
            <a:r>
              <a:rPr lang="sq-AL" sz="2200" b="1" dirty="0"/>
              <a:t>UNIVERSITETI I PRISHTINËS "HASAN PRISHTINA"</a:t>
            </a:r>
            <a:br>
              <a:rPr lang="en-US" sz="2200" dirty="0"/>
            </a:br>
            <a:r>
              <a:rPr lang="sq-AL" sz="2200" b="1" dirty="0"/>
              <a:t>FAKULTETI I NDËRTIMTARISË</a:t>
            </a:r>
            <a:br>
              <a:rPr lang="en-US" sz="2200" dirty="0"/>
            </a:br>
            <a:r>
              <a:rPr lang="sq-AL" sz="2200" dirty="0"/>
              <a:t>Departamenti:</a:t>
            </a:r>
            <a:r>
              <a:rPr lang="sq-AL" sz="2200" b="1" dirty="0"/>
              <a:t> GJEODEZI</a:t>
            </a:r>
            <a:br>
              <a:rPr lang="en-US" sz="2200" dirty="0"/>
            </a:br>
            <a:r>
              <a:rPr lang="sq-AL" sz="2200" dirty="0"/>
              <a:t>(Studime Bachelor)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1FE6E-1A84-4E00-90CF-E5BCAC5BB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801907"/>
            <a:ext cx="10448365" cy="4670612"/>
          </a:xfrm>
        </p:spPr>
        <p:txBody>
          <a:bodyPr>
            <a:normAutofit fontScale="55000" lnSpcReduction="20000"/>
          </a:bodyPr>
          <a:lstStyle/>
          <a:p>
            <a:br>
              <a:rPr lang="en-US" sz="3800" dirty="0"/>
            </a:br>
            <a:br>
              <a:rPr lang="en-US" sz="3800" dirty="0"/>
            </a:br>
            <a:br>
              <a:rPr lang="en-US" sz="3800" dirty="0"/>
            </a:br>
            <a:br>
              <a:rPr lang="en-US" sz="3800" dirty="0"/>
            </a:br>
            <a:endParaRPr lang="en-US" sz="3800" dirty="0"/>
          </a:p>
          <a:p>
            <a:br>
              <a:rPr lang="en-US" sz="3800" dirty="0"/>
            </a:br>
            <a:r>
              <a:rPr lang="en-US" sz="3800" dirty="0"/>
              <a:t>- </a:t>
            </a:r>
            <a:r>
              <a:rPr lang="sq-AL" sz="3800" dirty="0"/>
              <a:t>PUNIM DIPLOME</a:t>
            </a:r>
            <a:r>
              <a:rPr lang="en-US" sz="3800" dirty="0"/>
              <a:t> -</a:t>
            </a:r>
          </a:p>
          <a:p>
            <a:br>
              <a:rPr lang="en-US" sz="3800" dirty="0"/>
            </a:br>
            <a:r>
              <a:rPr lang="sq-AL" sz="3800" dirty="0"/>
              <a:t>LËNDA:  Orientimi dhe modelimi i objekteve gjeohapësinore</a:t>
            </a:r>
            <a:endParaRPr lang="en-US" sz="3800" dirty="0"/>
          </a:p>
          <a:p>
            <a:r>
              <a:rPr lang="sq-AL" sz="3800" dirty="0"/>
              <a:t>TEMA:  Modelimi i të dhënave dhe krijimi i hartës digjitale për rrjetin e ujësjellësit</a:t>
            </a:r>
            <a:br>
              <a:rPr lang="en-US" b="1" dirty="0"/>
            </a:br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r>
              <a:rPr lang="sq-AL" sz="3300" b="1" dirty="0"/>
              <a:t> KANDIDATI:								           MENTORI</a:t>
            </a:r>
            <a:r>
              <a:rPr lang="en-US" sz="3300" b="1" dirty="0"/>
              <a:t>: </a:t>
            </a:r>
            <a:br>
              <a:rPr lang="en-US" sz="3300" b="1" dirty="0"/>
            </a:br>
            <a:r>
              <a:rPr lang="en-US" sz="3300" b="1" dirty="0"/>
              <a:t> </a:t>
            </a:r>
            <a:r>
              <a:rPr lang="sq-AL" sz="3300" b="1" dirty="0"/>
              <a:t>Valon Sejdiu         	</a:t>
            </a:r>
            <a:r>
              <a:rPr lang="en-US" sz="3300" b="1" dirty="0"/>
              <a:t>                                                                                                            </a:t>
            </a:r>
            <a:r>
              <a:rPr lang="sq-AL" sz="3300" b="1" dirty="0"/>
              <a:t>Prof.Ass.Dr. Besim Ajvazi</a:t>
            </a:r>
            <a:br>
              <a:rPr lang="sq-AL" sz="3300" b="1" dirty="0"/>
            </a:br>
            <a:r>
              <a:rPr lang="en-US" sz="3300" b="1" dirty="0"/>
              <a:t>         </a:t>
            </a:r>
            <a:br>
              <a:rPr lang="sq-AL" sz="3300" b="1" dirty="0"/>
            </a:br>
            <a:br>
              <a:rPr lang="sq-AL" sz="3300" b="1" dirty="0"/>
            </a:br>
            <a:r>
              <a:rPr lang="sq-AL" sz="3300" dirty="0"/>
              <a:t>Prishtinë, Shkurt 2026</a:t>
            </a:r>
            <a:endParaRPr lang="en-US" sz="3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53F273-38F4-4587-BAE3-D4603776A00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990400" y="1801907"/>
            <a:ext cx="2109647" cy="12729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571C62-168C-409B-9BB7-E2FE26947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38" y="0"/>
            <a:ext cx="116827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572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BB08C-54B8-491D-8024-E494A0AA3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err="1"/>
              <a:t>Kapitulli</a:t>
            </a:r>
            <a:r>
              <a:rPr lang="en-US" sz="2000" b="1" dirty="0"/>
              <a:t> 1: </a:t>
            </a:r>
            <a:r>
              <a:rPr lang="en-US" sz="2000" b="1" dirty="0" err="1"/>
              <a:t>Hyrje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A85FE-4250-4F5F-B465-EA36DEC9B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0918"/>
            <a:ext cx="10618694" cy="488604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sq-AL" dirty="0"/>
              <a:t>  </a:t>
            </a:r>
            <a:r>
              <a:rPr lang="sq-AL" noProof="1"/>
              <a:t>Menaxhimi</a:t>
            </a:r>
            <a:r>
              <a:rPr lang="sq-AL" dirty="0"/>
              <a:t> i burimeve ujore përfaqëson një nga sfidat më komplekse dhe strategjike të shoqërisë bashkëkohore. Uji i pijshëm është burim jetik për jetën njerëzore, zhvillimin ekonomik dhe stabilitetin social. Në këtë kontekst, infrastruktura e ujësjellësit përbën një aset kritik publik, i cili kërkon menaxhim të kujdesshëm, monitorim të vazhdueshëm dhe mirëmbajtje afatgjatë.</a:t>
            </a:r>
          </a:p>
          <a:p>
            <a:pPr marL="0" indent="0">
              <a:buNone/>
            </a:pPr>
            <a:r>
              <a:rPr lang="sq-AL" dirty="0"/>
              <a:t>Në shumë vende në zhvillim, përfshirë rajonin e Ballkanit, sistemet e ujësjellësit karakterizohen nga rrjete të vjetruara, dokumentacion jo i plotë teknik, humbje të larta të ujit dhe vështirësi serioze në procesin e inkasimit. Mungesa e një kadastri digjital të azhurnuar e bën të vështirë identifikimin e problemeve në rrjet dhe planifikimin efikas të investimeve.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sq-AL" dirty="0"/>
              <a:t>Zhvillimi i gjeoshkencave dhe veçanërisht i Sistemeve të Informacionit Gjeografik (GIS), ka hapur perspektiva </a:t>
            </a:r>
            <a:r>
              <a:rPr lang="en-US" dirty="0"/>
              <a:t>        </a:t>
            </a:r>
            <a:r>
              <a:rPr lang="sq-AL" dirty="0"/>
              <a:t>të reja për menaxhimin modern të infrastrukturës ujore. Web GIS aplikacionet ofrojnë mundësinë e integrimit </a:t>
            </a:r>
            <a:r>
              <a:rPr lang="en-US" dirty="0"/>
              <a:t>  </a:t>
            </a:r>
            <a:r>
              <a:rPr lang="sq-AL" dirty="0"/>
              <a:t>të të dhënave hapësinore, teknike dhe financiare në një platformë të vetme, të aksesueshme në kohë reale nga përdorues të ndryshëm.</a:t>
            </a:r>
            <a:r>
              <a:rPr lang="en-US" dirty="0"/>
              <a:t> </a:t>
            </a:r>
            <a:r>
              <a:rPr lang="sq-AL" dirty="0"/>
              <a:t>Kjo temë diplome fokusohet në </a:t>
            </a:r>
            <a:r>
              <a:rPr lang="sq-AL" b="1" dirty="0"/>
              <a:t>modelimin e të dhënave dhe krijimin e një harte digjitale për rrjetin e </a:t>
            </a:r>
            <a:r>
              <a:rPr lang="en-US" b="1" dirty="0"/>
              <a:t>  </a:t>
            </a:r>
            <a:r>
              <a:rPr lang="sq-AL" b="1" dirty="0"/>
              <a:t>ujësjellësit</a:t>
            </a:r>
            <a:r>
              <a:rPr lang="sq-AL" dirty="0"/>
              <a:t>,në bazë të së cilës kanë erivuar edhe hartat e tjera qe i kam përgaditur</a:t>
            </a:r>
            <a:r>
              <a:rPr lang="sq-AL" b="1" i="1" dirty="0"/>
              <a:t> </a:t>
            </a:r>
            <a:r>
              <a:rPr lang="sq-AL" dirty="0"/>
              <a:t>duke përdorur mjete GIS për strukturimin, analizimin dhe vizualizimin e të dhënave hapësinore dhe atributive. Përmes këtij procesi mundësohet një pasqyrë e saktë e elementeve të rrjetit, si tubacionet, nyjet dhe konsumatorët, duke krijuar bazë të qëndrueshme për menaxhim, mirëmbajtje dhe planifikim të mëtejshëm të sistemit të ujësjellësit.</a:t>
            </a:r>
            <a:br>
              <a:rPr lang="sq-AL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313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762F4-3FC4-4D8C-BA66-DEFA51526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q-AL" sz="2000" b="1" dirty="0">
                <a:latin typeface="+mn-lt"/>
              </a:rPr>
              <a:t>Përmbajtja</a:t>
            </a:r>
            <a:endParaRPr lang="en-US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BB600-3617-41F8-9012-5FB1E9E5C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035"/>
            <a:ext cx="9704294" cy="466192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sq-AL" b="1" dirty="0"/>
              <a:t> </a:t>
            </a:r>
            <a:br>
              <a:rPr lang="sq-AL" b="1" dirty="0"/>
            </a:br>
            <a:br>
              <a:rPr lang="sq-AL" b="1" dirty="0"/>
            </a:br>
            <a:r>
              <a:rPr lang="sq-AL" b="1" dirty="0"/>
              <a:t>1. Hyrje </a:t>
            </a:r>
            <a:r>
              <a:rPr lang="sq-AL" dirty="0"/>
              <a:t>......…………..............................................................................................................</a:t>
            </a:r>
            <a:r>
              <a:rPr lang="en-US" dirty="0"/>
              <a:t>......</a:t>
            </a:r>
            <a:r>
              <a:rPr lang="sq-AL" dirty="0"/>
              <a:t>.      3</a:t>
            </a:r>
            <a:br>
              <a:rPr lang="sq-AL" dirty="0"/>
            </a:br>
            <a:br>
              <a:rPr lang="sq-AL" b="1" dirty="0"/>
            </a:br>
            <a:r>
              <a:rPr lang="sq-AL" b="1" dirty="0"/>
              <a:t>2. Problematika e menaxhimit të ujërave </a:t>
            </a:r>
            <a:r>
              <a:rPr lang="sq-AL" dirty="0"/>
              <a:t>..............................................................................</a:t>
            </a:r>
            <a:r>
              <a:rPr lang="en-US" dirty="0"/>
              <a:t>.</a:t>
            </a:r>
            <a:r>
              <a:rPr lang="sq-AL" dirty="0"/>
              <a:t>       4</a:t>
            </a:r>
            <a:br>
              <a:rPr lang="sq-AL" dirty="0"/>
            </a:br>
            <a:br>
              <a:rPr lang="sq-AL" dirty="0"/>
            </a:br>
            <a:r>
              <a:rPr lang="sq-AL" b="1" dirty="0"/>
              <a:t>3. Qëllimi dhe objektivat e punimit </a:t>
            </a:r>
            <a:r>
              <a:rPr lang="sq-AL" dirty="0"/>
              <a:t>........................................................................................</a:t>
            </a:r>
            <a:r>
              <a:rPr lang="en-US" dirty="0"/>
              <a:t>.</a:t>
            </a:r>
            <a:r>
              <a:rPr lang="sq-AL" dirty="0"/>
              <a:t>       4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sq-AL" dirty="0"/>
              <a:t> 3.1 Objektivat e punimit .........................................................................................................       5</a:t>
            </a:r>
            <a:endParaRPr lang="en-US" dirty="0"/>
          </a:p>
          <a:p>
            <a:pPr marL="0" indent="0">
              <a:buNone/>
            </a:pPr>
            <a:r>
              <a:rPr lang="sq-AL" b="1" dirty="0"/>
              <a:t>4. Modelimi i të Dhënave dhe Klasifikimi i Komponenteve të Sistemit</a:t>
            </a:r>
            <a:r>
              <a:rPr lang="sq-AL" dirty="0"/>
              <a:t>..............................</a:t>
            </a:r>
            <a:r>
              <a:rPr lang="en-US" dirty="0"/>
              <a:t>....  </a:t>
            </a:r>
            <a:r>
              <a:rPr lang="sq-AL" dirty="0"/>
              <a:t>     5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sq-AL" dirty="0"/>
              <a:t>4.1 Grupi i parë: Të dhënat e rrugëve dhe orientimit territorial ..........................................</a:t>
            </a:r>
            <a:r>
              <a:rPr lang="en-US" dirty="0"/>
              <a:t>.</a:t>
            </a:r>
            <a:r>
              <a:rPr lang="sq-AL" dirty="0"/>
              <a:t>       6</a:t>
            </a:r>
            <a:br>
              <a:rPr lang="sq-AL" dirty="0"/>
            </a:br>
            <a:r>
              <a:rPr lang="sq-AL" dirty="0"/>
              <a:t>       4.1.1 Të dhënat e rrugëve .................................................................................................</a:t>
            </a:r>
            <a:r>
              <a:rPr lang="en-US" dirty="0"/>
              <a:t>.</a:t>
            </a:r>
            <a:r>
              <a:rPr lang="sq-AL" dirty="0"/>
              <a:t>.       6</a:t>
            </a:r>
            <a:br>
              <a:rPr lang="sq-AL" dirty="0"/>
            </a:br>
            <a:r>
              <a:rPr lang="sq-AL" dirty="0"/>
              <a:t>   4.2 Grupi i </a:t>
            </a:r>
            <a:r>
              <a:rPr lang="sq-AL" noProof="1"/>
              <a:t>dytë: </a:t>
            </a:r>
            <a:r>
              <a:rPr lang="sq-AL" dirty="0"/>
              <a:t>Të dhënat për ndërtesat, shtëpitë dhe konsumatorët ose pronarët ..........       9</a:t>
            </a:r>
            <a:br>
              <a:rPr lang="sq-AL" dirty="0"/>
            </a:br>
            <a:r>
              <a:rPr lang="sq-AL" dirty="0"/>
              <a:t>       4.2.1 Ndërtesat dhe shtëpitë së bashku me konsumatorët ose pronarët .......................</a:t>
            </a:r>
            <a:r>
              <a:rPr lang="en-US" dirty="0"/>
              <a:t>.</a:t>
            </a:r>
            <a:r>
              <a:rPr lang="sq-AL" dirty="0"/>
              <a:t>.    </a:t>
            </a:r>
            <a:r>
              <a:rPr lang="en-US" dirty="0"/>
              <a:t> </a:t>
            </a:r>
            <a:r>
              <a:rPr lang="sq-AL" dirty="0"/>
              <a:t> </a:t>
            </a:r>
            <a:r>
              <a:rPr lang="en-US" dirty="0"/>
              <a:t> </a:t>
            </a:r>
            <a:r>
              <a:rPr lang="sq-AL" dirty="0"/>
              <a:t>10</a:t>
            </a:r>
            <a:br>
              <a:rPr lang="sq-AL" dirty="0"/>
            </a:br>
            <a:r>
              <a:rPr lang="sq-AL" dirty="0"/>
              <a:t>   4.3 Grupi i tret</a:t>
            </a:r>
            <a:r>
              <a:rPr lang="en-US" dirty="0"/>
              <a:t>ë</a:t>
            </a:r>
            <a:r>
              <a:rPr lang="sq-AL" dirty="0"/>
              <a:t>: Të dhënat e rrjetit ujësjellësit ...................................................................</a:t>
            </a:r>
            <a:r>
              <a:rPr lang="en-US" dirty="0"/>
              <a:t>. </a:t>
            </a:r>
            <a:r>
              <a:rPr lang="sq-AL" dirty="0"/>
              <a:t>  </a:t>
            </a:r>
            <a:r>
              <a:rPr lang="en-US" dirty="0"/>
              <a:t> </a:t>
            </a:r>
            <a:r>
              <a:rPr lang="sq-AL" dirty="0"/>
              <a:t> </a:t>
            </a:r>
            <a:r>
              <a:rPr lang="en-US" dirty="0"/>
              <a:t>   </a:t>
            </a:r>
            <a:r>
              <a:rPr lang="sq-AL" dirty="0"/>
              <a:t>15</a:t>
            </a:r>
            <a:br>
              <a:rPr lang="sq-AL" dirty="0"/>
            </a:br>
            <a:r>
              <a:rPr lang="sq-AL" dirty="0"/>
              <a:t>       4.3.1 Të dhënat teknike të rrjetit të ujësjellësit ................................................................</a:t>
            </a:r>
            <a:r>
              <a:rPr lang="en-US" dirty="0"/>
              <a:t>.</a:t>
            </a:r>
            <a:r>
              <a:rPr lang="sq-AL" dirty="0"/>
              <a:t>   </a:t>
            </a:r>
            <a:r>
              <a:rPr lang="en-US" dirty="0"/>
              <a:t>    </a:t>
            </a:r>
            <a:r>
              <a:rPr lang="sq-AL" dirty="0"/>
              <a:t>15</a:t>
            </a:r>
            <a:br>
              <a:rPr lang="sq-AL" dirty="0"/>
            </a:br>
            <a:br>
              <a:rPr lang="sq-AL" dirty="0"/>
            </a:br>
            <a:r>
              <a:rPr lang="sq-AL" b="1" dirty="0"/>
              <a:t>5. Modelimi i Hartave </a:t>
            </a:r>
            <a:r>
              <a:rPr lang="sq-AL" dirty="0"/>
              <a:t>..............................................................................................................  </a:t>
            </a:r>
            <a:r>
              <a:rPr lang="en-US" dirty="0"/>
              <a:t>   </a:t>
            </a:r>
            <a:r>
              <a:rPr lang="sq-AL" dirty="0"/>
              <a:t>  22</a:t>
            </a:r>
            <a:endParaRPr lang="en-US" dirty="0"/>
          </a:p>
          <a:p>
            <a:pPr marL="0" indent="0">
              <a:buNone/>
            </a:pPr>
            <a:r>
              <a:rPr lang="sq-AL" dirty="0"/>
              <a:t>    5.1 Modelimi i shenjave hartografike ....................................................................................   </a:t>
            </a:r>
            <a:r>
              <a:rPr lang="en-US" dirty="0"/>
              <a:t>   </a:t>
            </a:r>
            <a:r>
              <a:rPr lang="sq-AL" dirty="0"/>
              <a:t>23</a:t>
            </a:r>
            <a:br>
              <a:rPr lang="sq-AL" dirty="0"/>
            </a:br>
            <a:r>
              <a:rPr lang="sq-AL" dirty="0"/>
              <a:t>    5.2 Dimenzionimi i shenjave hartografike ............................................................................</a:t>
            </a:r>
            <a:r>
              <a:rPr lang="en-US" dirty="0"/>
              <a:t>.</a:t>
            </a:r>
            <a:r>
              <a:rPr lang="sq-AL" dirty="0"/>
              <a:t>  </a:t>
            </a:r>
            <a:r>
              <a:rPr lang="en-US" dirty="0"/>
              <a:t>    </a:t>
            </a:r>
            <a:r>
              <a:rPr lang="sq-AL" dirty="0"/>
              <a:t>24</a:t>
            </a:r>
            <a:br>
              <a:rPr lang="sq-AL" dirty="0"/>
            </a:br>
            <a:r>
              <a:rPr lang="sq-AL" dirty="0"/>
              <a:t>    5.3 Modelimi i numrave dhe shkronjave ............................................................................... </a:t>
            </a:r>
            <a:r>
              <a:rPr lang="en-US" dirty="0"/>
              <a:t>     </a:t>
            </a:r>
            <a:r>
              <a:rPr lang="sq-AL" dirty="0"/>
              <a:t>25</a:t>
            </a:r>
            <a:br>
              <a:rPr lang="sq-AL" dirty="0"/>
            </a:br>
            <a:br>
              <a:rPr lang="sq-AL" dirty="0"/>
            </a:br>
            <a:r>
              <a:rPr lang="sq-AL" b="1" dirty="0"/>
              <a:t>6. Simbologjia e përdorur </a:t>
            </a:r>
            <a:r>
              <a:rPr lang="sq-AL" dirty="0"/>
              <a:t>........................................................................................................ </a:t>
            </a:r>
            <a:r>
              <a:rPr lang="en-US" dirty="0"/>
              <a:t>      </a:t>
            </a:r>
            <a:r>
              <a:rPr lang="sq-AL" dirty="0"/>
              <a:t>26</a:t>
            </a:r>
            <a:br>
              <a:rPr lang="sq-AL" dirty="0"/>
            </a:br>
            <a:r>
              <a:rPr lang="sq-AL" dirty="0"/>
              <a:t>    6.1 Simbolet poligonale (objekte ndërtimore) .....................................................................</a:t>
            </a:r>
            <a:r>
              <a:rPr lang="en-US" dirty="0"/>
              <a:t>       </a:t>
            </a:r>
            <a:r>
              <a:rPr lang="sq-AL" dirty="0"/>
              <a:t>26</a:t>
            </a:r>
            <a:br>
              <a:rPr lang="sq-AL" dirty="0"/>
            </a:br>
            <a:r>
              <a:rPr lang="sq-AL" dirty="0"/>
              <a:t>    6.2 Simbolet lineare të rrjetit të gypave ............................................................................</a:t>
            </a:r>
            <a:r>
              <a:rPr lang="en-US" dirty="0"/>
              <a:t>...       </a:t>
            </a:r>
            <a:r>
              <a:rPr lang="sq-AL" dirty="0"/>
              <a:t>29</a:t>
            </a:r>
            <a:br>
              <a:rPr lang="sq-AL" dirty="0"/>
            </a:br>
            <a:r>
              <a:rPr lang="sq-AL" dirty="0"/>
              <a:t>    6.3 Simbolet e ujëmatësve .................................................................................................... </a:t>
            </a:r>
            <a:r>
              <a:rPr lang="en-US" dirty="0"/>
              <a:t>      </a:t>
            </a:r>
            <a:r>
              <a:rPr lang="sq-AL" dirty="0"/>
              <a:t>31</a:t>
            </a:r>
            <a:br>
              <a:rPr lang="sq-AL" dirty="0"/>
            </a:br>
            <a:r>
              <a:rPr lang="sq-AL" dirty="0"/>
              <a:t> 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57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344D03-8450-4202-994D-16DF8B4269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08" y="242598"/>
            <a:ext cx="10856183" cy="6372804"/>
          </a:xfrm>
        </p:spPr>
      </p:pic>
    </p:spTree>
    <p:extLst>
      <p:ext uri="{BB962C8B-B14F-4D97-AF65-F5344CB8AC3E}">
        <p14:creationId xmlns:p14="http://schemas.microsoft.com/office/powerpoint/2010/main" val="3148911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F325B-2F7A-47E3-A4C9-C38C37AA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b="1" dirty="0"/>
              <a:t>Modelimi i të Dhënave dhe Klasifikimi i Komponenteve të Sistemit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32AB6-E67E-4E01-9D71-813161D95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q-AL" b="1" dirty="0"/>
              <a:t>Modelimi i të Dhënave dhe Klasifikimi i Komponenteve të Sistemit</a:t>
            </a:r>
            <a:br>
              <a:rPr lang="en-US" b="1" dirty="0"/>
            </a:br>
            <a:r>
              <a:rPr lang="sq-AL" dirty="0"/>
              <a:t>Të dhënat e rrugëve </a:t>
            </a:r>
            <a:br>
              <a:rPr lang="en-US" dirty="0"/>
            </a:br>
            <a:r>
              <a:rPr lang="en-US" dirty="0"/>
              <a:t>N</a:t>
            </a:r>
            <a:r>
              <a:rPr lang="sq-AL" dirty="0"/>
              <a:t>dërtesat</a:t>
            </a:r>
            <a:r>
              <a:rPr lang="en-US" dirty="0"/>
              <a:t> / S</a:t>
            </a:r>
            <a:r>
              <a:rPr lang="sq-AL" dirty="0"/>
              <a:t>htëpitë</a:t>
            </a:r>
            <a:br>
              <a:rPr lang="en-US" dirty="0"/>
            </a:br>
            <a:r>
              <a:rPr lang="sq-AL" dirty="0"/>
              <a:t>konsumatorët ose pronarët 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017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">
            <a:extLst>
              <a:ext uri="{FF2B5EF4-FFF2-40B4-BE49-F238E27FC236}">
                <a16:creationId xmlns:a16="http://schemas.microsoft.com/office/drawing/2014/main" id="{533AE1F9-EA20-4A3F-85BD-0FAE2101D9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6057" y="480980"/>
            <a:ext cx="9473939" cy="724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36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1580</TotalTime>
  <Words>627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UNIVERSITETI I PRISHTINËS "HASAN PRISHTINA" FAKULTETI I NDËRTIMTARISË Departamenti: GJEODEZI (Studime Bachelor) </vt:lpstr>
      <vt:lpstr>Kapitulli 1: Hyrje </vt:lpstr>
      <vt:lpstr>Përmbajtja</vt:lpstr>
      <vt:lpstr>PowerPoint Presentation</vt:lpstr>
      <vt:lpstr>Modelimi i të Dhënave dhe Klasifikimi i Komponenteve të Sistemit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UNIVERSITETI I PRISHTINËS "HASAN PRISHTINA" FAKULTETI I NDËRTIMTARISË Departamenti: GJEODEZI (Studime Bachelor)</dc:title>
  <dc:creator>Valon Sejdiu</dc:creator>
  <cp:lastModifiedBy>Valon Sejdiu</cp:lastModifiedBy>
  <cp:revision>15</cp:revision>
  <dcterms:created xsi:type="dcterms:W3CDTF">2026-01-23T15:11:57Z</dcterms:created>
  <dcterms:modified xsi:type="dcterms:W3CDTF">2026-01-24T17:32:22Z</dcterms:modified>
</cp:coreProperties>
</file>