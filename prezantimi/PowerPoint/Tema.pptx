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0E755-B40F-4102-99ED-1F2421AEEE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890AB1-A427-4B77-8414-BA662DE617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B645DF-BBC6-48A3-B7ED-00B5CBFE0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011A-DD1D-4FC0-8431-80EE5BF89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5AA06-3785-4755-9451-37587D885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369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0885C-396A-4987-BA21-30F559431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E1E22-0B2A-416E-99DD-0324E171A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2700E-09E8-4CED-B62F-1329F9F9E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C8B21-908E-48C8-836D-14082D756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80DAE5-0A35-4DA8-B1A9-E703EA618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438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5A85A-DF14-4DA2-835E-A70550903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038338-6C4A-49F0-8AD5-D2A78F1A3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5CEB9A-87CD-4956-8A61-9B4DE3B5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F326E0-C464-4DAE-A131-09D6AEE15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CD0030-F1F9-4A38-A04F-7071D836E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48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777AF-16E4-4099-A3EB-F132B2170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A36D0-AE27-405E-B24F-2F1C3775BE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C78F2A-7B08-4F31-A41C-7A9483A3C3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66CE1E-6271-4FF2-9E1F-E7ECACFC6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21F1B5-9E2C-4084-8381-EEA2E828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A97374-0794-4EBB-AF0E-044B47F58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740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952E2-E812-476C-9473-A9ED66922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02D42-885A-41E0-8E1A-1F29B0313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59C28F-37EE-4C12-A5AC-0276AF3888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049F70-47D3-409C-95D1-B77BB65F9E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FF2047-13E7-45CF-AABE-BDAB9B2ECD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AE636B-EAAA-47B8-B2F0-EE8AB7000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DE5F19-D9BB-4B32-A265-404004243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F48063-A18D-41C2-BF75-49C315E62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093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ED522-2EA3-436A-978E-C6CFE0A17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93D376-7E5D-4897-B53A-632BFCCB2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2D9723-B4D3-4207-B805-FC18CC526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B480E-875E-4327-9CFD-208BC38BC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2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DD2145-730B-431A-90BC-45D0EABD2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9B3457-0278-4A33-88AC-48D9B081F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8DBE6-B9FE-405C-ADC0-D7794DEEB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035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BCCEB-82CC-42FD-ABFC-DA05CD278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1DD74-269D-4511-BB24-B6422CB57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5EB224-7FD6-456B-8358-8CBC29ACAE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BCA459-EBE3-4592-BA2F-247F4D8B2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E7C6D2-EE0F-45AF-BB6C-FF46C1BA3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BB92A-106C-453F-BA04-448FF1C87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919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1D36B-7224-4256-9619-996FDEF9B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E88FB9-2BC9-4B98-8E51-65FD3AD05B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C61B05-57E3-442C-80C3-81E25961C0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84B7F8-A0C6-4E02-8B64-60E09B0A0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5BB885-516F-462B-9BB4-576123930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13E7FE-83A6-4D57-B6D3-47B3C9B84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635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213E6-A36F-414E-B73A-339F6A056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E16BE0-B137-4A7E-9BC2-9A73421380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E1D84-4D75-4A60-9290-276B31048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0DBC2-CF4B-4A23-8BD1-1DBCC702F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6D887F-207F-4547-B909-8CD0762A1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329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6FA111-CB88-4720-A24F-6E94CABB28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290719-8C0E-4F15-83C9-EDC3D6F5C7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71FD1-DB74-49F7-B301-8D0464D40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1A098-86E8-47A5-827C-75477A40E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C698FF-0D75-4981-BA20-8B995C950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404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D7210E-CD7F-4A7E-A9F8-1EB4BF7DB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7C75F3-57D7-4EEE-8AE1-59B268A4E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6B95E-6F01-498F-BCD1-610C4623CA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0ED25-76A2-4D50-9572-1C70F4704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FF56CE-2526-467C-8116-0E0F79C99B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65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39C57-2F5E-409D-88A8-972BFE957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30039"/>
            <a:ext cx="9144000" cy="2387600"/>
          </a:xfrm>
        </p:spPr>
        <p:txBody>
          <a:bodyPr>
            <a:normAutofit/>
          </a:bodyPr>
          <a:lstStyle/>
          <a:p>
            <a:r>
              <a:rPr lang="sq-AL" sz="2200" b="1" dirty="0"/>
              <a:t>UNIVERSITETI I PRISHTINËS "HASAN PRISHTINA"</a:t>
            </a:r>
            <a:br>
              <a:rPr lang="en-US" sz="2200" dirty="0"/>
            </a:br>
            <a:r>
              <a:rPr lang="sq-AL" sz="2200" b="1" dirty="0"/>
              <a:t>FAKULTETI I NDËRTIMTARISË</a:t>
            </a:r>
            <a:br>
              <a:rPr lang="en-US" sz="2200" dirty="0"/>
            </a:br>
            <a:r>
              <a:rPr lang="sq-AL" sz="2200" dirty="0"/>
              <a:t>Departamenti:</a:t>
            </a:r>
            <a:r>
              <a:rPr lang="sq-AL" sz="2200" b="1" dirty="0"/>
              <a:t> GJEODEZI</a:t>
            </a:r>
            <a:br>
              <a:rPr lang="en-US" sz="2200" dirty="0"/>
            </a:br>
            <a:r>
              <a:rPr lang="sq-AL" sz="2200" dirty="0"/>
              <a:t>(Studime Bachelor)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1FE6E-1A84-4E00-90CF-E5BCAC5BB3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998260"/>
            <a:ext cx="10448365" cy="2474258"/>
          </a:xfrm>
        </p:spPr>
        <p:txBody>
          <a:bodyPr>
            <a:normAutofit fontScale="55000" lnSpcReduction="20000"/>
          </a:bodyPr>
          <a:lstStyle/>
          <a:p>
            <a:r>
              <a:rPr lang="sq-AL" dirty="0"/>
              <a:t>PUNIM DIPLOME</a:t>
            </a:r>
            <a:endParaRPr lang="en-US" dirty="0"/>
          </a:p>
          <a:p>
            <a:r>
              <a:rPr lang="sq-AL" b="1" dirty="0"/>
              <a:t>LËNDA:  Orientimi dhe modelimi i objekteve gjeohapësinore</a:t>
            </a:r>
            <a:endParaRPr lang="en-US" dirty="0"/>
          </a:p>
          <a:p>
            <a:r>
              <a:rPr lang="sq-AL" b="1" dirty="0"/>
              <a:t>TEMA:  Modelimi i të dhënave dhe krijimi i hartës digjitale për rrjetin e ujësjellësit</a:t>
            </a:r>
            <a:br>
              <a:rPr lang="en-US" b="1" dirty="0"/>
            </a:br>
            <a:endParaRPr lang="en-US" b="1" dirty="0"/>
          </a:p>
          <a:p>
            <a:br>
              <a:rPr lang="en-US" b="1" dirty="0"/>
            </a:br>
            <a:endParaRPr lang="en-US" dirty="0"/>
          </a:p>
          <a:p>
            <a:r>
              <a:rPr lang="sq-AL" b="1" dirty="0"/>
              <a:t> KANDIDATI:								           MENTORI:</a:t>
            </a:r>
            <a:endParaRPr lang="en-US" dirty="0"/>
          </a:p>
          <a:p>
            <a:r>
              <a:rPr lang="sq-AL" b="1" dirty="0"/>
              <a:t>Valon Sejdiu         	                                                                                          </a:t>
            </a:r>
            <a:r>
              <a:rPr lang="en-US" b="1" dirty="0"/>
              <a:t>                              </a:t>
            </a:r>
            <a:r>
              <a:rPr lang="sq-AL" b="1" dirty="0"/>
              <a:t>     </a:t>
            </a:r>
            <a:r>
              <a:rPr lang="en-US" b="1" dirty="0"/>
              <a:t> </a:t>
            </a:r>
            <a:r>
              <a:rPr lang="sq-AL" b="1" dirty="0"/>
              <a:t>Prof.Ass.Dr. Besim Ajvazi</a:t>
            </a:r>
            <a:br>
              <a:rPr lang="sq-AL" b="1" dirty="0"/>
            </a:br>
            <a:r>
              <a:rPr lang="en-US" b="1" dirty="0"/>
              <a:t>         </a:t>
            </a:r>
            <a:br>
              <a:rPr lang="sq-AL" b="1" dirty="0"/>
            </a:br>
            <a:br>
              <a:rPr lang="sq-AL" b="1" dirty="0"/>
            </a:br>
            <a:r>
              <a:rPr lang="sq-AL" dirty="0"/>
              <a:t>Prishtinë, Shkurt 2026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BE1EA4-5FB4-49BF-B4D5-C516AFB76A8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4328553" y="1789897"/>
            <a:ext cx="3857625" cy="2450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572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BB08C-54B8-491D-8024-E494A0AA3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 err="1"/>
              <a:t>Kapitulli</a:t>
            </a:r>
            <a:r>
              <a:rPr lang="en-US" sz="2000" b="1" dirty="0"/>
              <a:t> 1: </a:t>
            </a:r>
            <a:r>
              <a:rPr lang="en-US" sz="2000" b="1" dirty="0" err="1"/>
              <a:t>Hyrje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A85FE-4250-4F5F-B465-EA36DEC9B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0918"/>
            <a:ext cx="10618694" cy="488604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sq-AL" dirty="0"/>
              <a:t>  </a:t>
            </a:r>
            <a:r>
              <a:rPr lang="sq-AL" noProof="1"/>
              <a:t>Menaxhimi</a:t>
            </a:r>
            <a:r>
              <a:rPr lang="sq-AL" dirty="0"/>
              <a:t> i burimeve ujore përfaqëson një nga sfidat më komplekse dhe strategjike të shoqërisë bashkëkohore. Uji i pijshëm është burim jetik për jetën njerëzore, zhvillimin ekonomik dhe stabilitetin social. Në këtë kontekst, infrastruktura e ujësjellësit përbën një aset kritik publik, i cili kërkon menaxhim të kujdesshëm, monitorim të vazhdueshëm dhe mirëmbajtje afatgjatë.</a:t>
            </a:r>
          </a:p>
          <a:p>
            <a:pPr marL="0" indent="0">
              <a:buNone/>
            </a:pPr>
            <a:r>
              <a:rPr lang="sq-AL" dirty="0"/>
              <a:t>Në shumë vende në zhvillim, përfshirë rajonin e Ballkanit, sistemet e ujësjellësit karakterizohen nga rrjete të vjetruara, dokumentacion jo i plotë teknik, humbje të larta të ujit dhe vështirësi serioze në procesin e inkasimit. Mungesa e një kadastri digjital të azhurnuar e bën të vështirë identifikimin e problemeve në rrjet dhe planifikimin efikas të investimeve.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sq-AL" dirty="0"/>
              <a:t>Zhvillimi i gjeoshkencave dhe veçanërisht i Sistemeve të Informacionit Gjeografik (GIS), ka hapur perspektiva </a:t>
            </a:r>
            <a:r>
              <a:rPr lang="en-US" dirty="0"/>
              <a:t>        </a:t>
            </a:r>
            <a:r>
              <a:rPr lang="sq-AL" dirty="0"/>
              <a:t>të reja për menaxhimin modern të infrastrukturës ujore. Web GIS aplikacionet ofrojnë mundësinë e integrimit </a:t>
            </a:r>
            <a:r>
              <a:rPr lang="en-US" dirty="0"/>
              <a:t>  </a:t>
            </a:r>
            <a:r>
              <a:rPr lang="sq-AL" dirty="0"/>
              <a:t>të të dhënave hapësinore, teknike dhe financiare në një platformë të vetme, të aksesueshme në kohë reale nga përdorues të ndryshëm.</a:t>
            </a:r>
            <a:r>
              <a:rPr lang="en-US" dirty="0"/>
              <a:t> </a:t>
            </a:r>
            <a:r>
              <a:rPr lang="sq-AL" dirty="0"/>
              <a:t>Kjo temë diplome fokusohet në </a:t>
            </a:r>
            <a:r>
              <a:rPr lang="sq-AL" b="1" dirty="0"/>
              <a:t>modelimin e të dhënave dhe krijimin e një harte digjitale për rrjetin e </a:t>
            </a:r>
            <a:r>
              <a:rPr lang="en-US" b="1" dirty="0"/>
              <a:t>  </a:t>
            </a:r>
            <a:r>
              <a:rPr lang="sq-AL" b="1" dirty="0"/>
              <a:t>ujësjellësit</a:t>
            </a:r>
            <a:r>
              <a:rPr lang="sq-AL" dirty="0"/>
              <a:t>,në bazë të së cilës kanë erivuar edhe hartat e tjera qe i kam përgaditur</a:t>
            </a:r>
            <a:r>
              <a:rPr lang="sq-AL" b="1" i="1" dirty="0"/>
              <a:t> </a:t>
            </a:r>
            <a:r>
              <a:rPr lang="sq-AL" dirty="0"/>
              <a:t>duke përdorur mjete GIS për strukturimin, analizimin dhe vizualizimin e të dhënave hapësinore dhe atributive. Përmes këtij procesi mundësohet një pasqyrë e saktë e elementeve të rrjetit, si tubacionet, nyjet dhe konsumatorët, duke krijuar bazë të qëndrueshme për menaxhim, mirëmbajtje dhe planifikim të mëtejshëm të sistemit të ujësjellësit.</a:t>
            </a:r>
            <a:br>
              <a:rPr lang="sq-AL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83130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762F4-3FC4-4D8C-BA66-DEFA51526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q-AL" sz="2000" b="1" dirty="0">
                <a:latin typeface="+mn-lt"/>
              </a:rPr>
              <a:t>Përmbajtja</a:t>
            </a:r>
            <a:endParaRPr lang="en-US" sz="2000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CBB600-3617-41F8-9012-5FB1E9E5C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5035"/>
            <a:ext cx="9704294" cy="4661928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sq-AL" b="1" dirty="0"/>
              <a:t> </a:t>
            </a:r>
            <a:br>
              <a:rPr lang="sq-AL" b="1" dirty="0"/>
            </a:br>
            <a:br>
              <a:rPr lang="sq-AL" b="1" dirty="0"/>
            </a:br>
            <a:r>
              <a:rPr lang="sq-AL" b="1" dirty="0"/>
              <a:t>1. Hyrje </a:t>
            </a:r>
            <a:r>
              <a:rPr lang="sq-AL" dirty="0"/>
              <a:t>......…………..............................................................................................................</a:t>
            </a:r>
            <a:r>
              <a:rPr lang="en-US" dirty="0"/>
              <a:t>......</a:t>
            </a:r>
            <a:r>
              <a:rPr lang="sq-AL" dirty="0"/>
              <a:t>.      3</a:t>
            </a:r>
            <a:br>
              <a:rPr lang="sq-AL" dirty="0"/>
            </a:br>
            <a:br>
              <a:rPr lang="sq-AL" b="1" dirty="0"/>
            </a:br>
            <a:r>
              <a:rPr lang="sq-AL" b="1" dirty="0"/>
              <a:t>2. Problematika e menaxhimit të ujërave </a:t>
            </a:r>
            <a:r>
              <a:rPr lang="sq-AL" dirty="0"/>
              <a:t>..............................................................................</a:t>
            </a:r>
            <a:r>
              <a:rPr lang="en-US" dirty="0"/>
              <a:t>.</a:t>
            </a:r>
            <a:r>
              <a:rPr lang="sq-AL" dirty="0"/>
              <a:t>       4</a:t>
            </a:r>
            <a:br>
              <a:rPr lang="sq-AL" dirty="0"/>
            </a:br>
            <a:br>
              <a:rPr lang="sq-AL" dirty="0"/>
            </a:br>
            <a:r>
              <a:rPr lang="sq-AL" b="1" dirty="0"/>
              <a:t>3. Qëllimi dhe objektivat e punimit </a:t>
            </a:r>
            <a:r>
              <a:rPr lang="sq-AL" dirty="0"/>
              <a:t>........................................................................................</a:t>
            </a:r>
            <a:r>
              <a:rPr lang="en-US" dirty="0"/>
              <a:t>.</a:t>
            </a:r>
            <a:r>
              <a:rPr lang="sq-AL" dirty="0"/>
              <a:t>       4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</a:t>
            </a:r>
            <a:r>
              <a:rPr lang="sq-AL" dirty="0"/>
              <a:t> 3.1 Objektivat e punimit .........................................................................................................       5</a:t>
            </a:r>
            <a:endParaRPr lang="en-US" dirty="0"/>
          </a:p>
          <a:p>
            <a:pPr marL="0" indent="0">
              <a:buNone/>
            </a:pPr>
            <a:r>
              <a:rPr lang="sq-AL" b="1" dirty="0"/>
              <a:t>4. Modelimi i të Dhënave dhe Klasifikimi i Komponenteve të Sistemit</a:t>
            </a:r>
            <a:r>
              <a:rPr lang="sq-AL" dirty="0"/>
              <a:t>..............................</a:t>
            </a:r>
            <a:r>
              <a:rPr lang="en-US" dirty="0"/>
              <a:t>....  </a:t>
            </a:r>
            <a:r>
              <a:rPr lang="sq-AL" dirty="0"/>
              <a:t>     5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sq-AL" dirty="0"/>
              <a:t>4.1 Grupi i parë: Të dhënat e rrugëve dhe orientimit territorial ..........................................</a:t>
            </a:r>
            <a:r>
              <a:rPr lang="en-US" dirty="0"/>
              <a:t>.</a:t>
            </a:r>
            <a:r>
              <a:rPr lang="sq-AL" dirty="0"/>
              <a:t>       6</a:t>
            </a:r>
            <a:br>
              <a:rPr lang="sq-AL" dirty="0"/>
            </a:br>
            <a:r>
              <a:rPr lang="sq-AL" dirty="0"/>
              <a:t>       4.1.1 Të dhënat e rrugëve .................................................................................................</a:t>
            </a:r>
            <a:r>
              <a:rPr lang="en-US" dirty="0"/>
              <a:t>.</a:t>
            </a:r>
            <a:r>
              <a:rPr lang="sq-AL" dirty="0"/>
              <a:t>.       </a:t>
            </a:r>
            <a:r>
              <a:rPr lang="sq-AL"/>
              <a:t>6</a:t>
            </a:r>
            <a:br>
              <a:rPr lang="sq-AL" dirty="0"/>
            </a:br>
            <a:r>
              <a:rPr lang="sq-AL" dirty="0"/>
              <a:t>   4.2 Grupi i </a:t>
            </a:r>
            <a:r>
              <a:rPr lang="sq-AL" noProof="1"/>
              <a:t>dytë: </a:t>
            </a:r>
            <a:r>
              <a:rPr lang="sq-AL" dirty="0"/>
              <a:t>Të dhënat për ndërtesat, shtëpitë dhe konsumatorët ose pronarët ..........       9</a:t>
            </a:r>
            <a:br>
              <a:rPr lang="sq-AL" dirty="0"/>
            </a:br>
            <a:r>
              <a:rPr lang="sq-AL" dirty="0"/>
              <a:t>       4.2.1 Ndërtesat dhe shtëpitë së bashku me konsumatorët ose pronarët .......................</a:t>
            </a:r>
            <a:r>
              <a:rPr lang="en-US" dirty="0"/>
              <a:t>.</a:t>
            </a:r>
            <a:r>
              <a:rPr lang="sq-AL" dirty="0"/>
              <a:t>.    </a:t>
            </a:r>
            <a:r>
              <a:rPr lang="en-US" dirty="0"/>
              <a:t> </a:t>
            </a:r>
            <a:r>
              <a:rPr lang="sq-AL" dirty="0"/>
              <a:t> </a:t>
            </a:r>
            <a:r>
              <a:rPr lang="en-US" dirty="0"/>
              <a:t> </a:t>
            </a:r>
            <a:r>
              <a:rPr lang="sq-AL" dirty="0"/>
              <a:t>10</a:t>
            </a:r>
            <a:br>
              <a:rPr lang="sq-AL" dirty="0"/>
            </a:br>
            <a:r>
              <a:rPr lang="sq-AL" dirty="0"/>
              <a:t>   4.3 Grupi i tret</a:t>
            </a:r>
            <a:r>
              <a:rPr lang="en-US" dirty="0"/>
              <a:t>ë</a:t>
            </a:r>
            <a:r>
              <a:rPr lang="sq-AL" dirty="0"/>
              <a:t>: Të dhënat e rrjetit ujësjellësit ...................................................................</a:t>
            </a:r>
            <a:r>
              <a:rPr lang="en-US" dirty="0"/>
              <a:t>. </a:t>
            </a:r>
            <a:r>
              <a:rPr lang="sq-AL" dirty="0"/>
              <a:t>  </a:t>
            </a:r>
            <a:r>
              <a:rPr lang="en-US" dirty="0"/>
              <a:t> </a:t>
            </a:r>
            <a:r>
              <a:rPr lang="sq-AL" dirty="0"/>
              <a:t> </a:t>
            </a:r>
            <a:r>
              <a:rPr lang="en-US" dirty="0"/>
              <a:t>   </a:t>
            </a:r>
            <a:r>
              <a:rPr lang="sq-AL" dirty="0"/>
              <a:t>15</a:t>
            </a:r>
            <a:br>
              <a:rPr lang="sq-AL" dirty="0"/>
            </a:br>
            <a:r>
              <a:rPr lang="sq-AL" dirty="0"/>
              <a:t>       4.3.1 Të dhënat teknike të rrjetit të ujësjellësit ................................................................</a:t>
            </a:r>
            <a:r>
              <a:rPr lang="en-US" dirty="0"/>
              <a:t>.</a:t>
            </a:r>
            <a:r>
              <a:rPr lang="sq-AL" dirty="0"/>
              <a:t>   </a:t>
            </a:r>
            <a:r>
              <a:rPr lang="en-US" dirty="0"/>
              <a:t>    </a:t>
            </a:r>
            <a:r>
              <a:rPr lang="sq-AL" dirty="0"/>
              <a:t>15</a:t>
            </a:r>
            <a:br>
              <a:rPr lang="sq-AL" dirty="0"/>
            </a:br>
            <a:br>
              <a:rPr lang="sq-AL" dirty="0"/>
            </a:br>
            <a:r>
              <a:rPr lang="sq-AL" b="1" dirty="0"/>
              <a:t>5. Modelimi i Hartave </a:t>
            </a:r>
            <a:r>
              <a:rPr lang="sq-AL" dirty="0"/>
              <a:t>..............................................................................................................  </a:t>
            </a:r>
            <a:r>
              <a:rPr lang="en-US" dirty="0"/>
              <a:t>   </a:t>
            </a:r>
            <a:r>
              <a:rPr lang="sq-AL" dirty="0"/>
              <a:t>  22</a:t>
            </a:r>
            <a:endParaRPr lang="en-US" dirty="0"/>
          </a:p>
          <a:p>
            <a:pPr marL="0" indent="0">
              <a:buNone/>
            </a:pPr>
            <a:r>
              <a:rPr lang="sq-AL" dirty="0"/>
              <a:t>    5.1 Modelimi i shenjave hartografike ....................................................................................   </a:t>
            </a:r>
            <a:r>
              <a:rPr lang="en-US" dirty="0"/>
              <a:t>   </a:t>
            </a:r>
            <a:r>
              <a:rPr lang="sq-AL" dirty="0"/>
              <a:t>23</a:t>
            </a:r>
            <a:br>
              <a:rPr lang="sq-AL" dirty="0"/>
            </a:br>
            <a:r>
              <a:rPr lang="sq-AL" dirty="0"/>
              <a:t>    5.2 Dimenzionimi i shenjave hartografike ............................................................................</a:t>
            </a:r>
            <a:r>
              <a:rPr lang="en-US" dirty="0"/>
              <a:t>.</a:t>
            </a:r>
            <a:r>
              <a:rPr lang="sq-AL" dirty="0"/>
              <a:t>  </a:t>
            </a:r>
            <a:r>
              <a:rPr lang="en-US" dirty="0"/>
              <a:t>    </a:t>
            </a:r>
            <a:r>
              <a:rPr lang="sq-AL" dirty="0"/>
              <a:t>24</a:t>
            </a:r>
            <a:br>
              <a:rPr lang="sq-AL" dirty="0"/>
            </a:br>
            <a:r>
              <a:rPr lang="sq-AL" dirty="0"/>
              <a:t>    5.3 Modelimi i numrave dhe shkronjave ............................................................................... </a:t>
            </a:r>
            <a:r>
              <a:rPr lang="en-US" dirty="0"/>
              <a:t>     </a:t>
            </a:r>
            <a:r>
              <a:rPr lang="sq-AL" dirty="0"/>
              <a:t>25</a:t>
            </a:r>
            <a:br>
              <a:rPr lang="sq-AL" dirty="0"/>
            </a:br>
            <a:br>
              <a:rPr lang="sq-AL" dirty="0"/>
            </a:br>
            <a:r>
              <a:rPr lang="sq-AL" b="1" dirty="0"/>
              <a:t>6. Simbologjia e përdorur </a:t>
            </a:r>
            <a:r>
              <a:rPr lang="sq-AL" dirty="0"/>
              <a:t>........................................................................................................ </a:t>
            </a:r>
            <a:r>
              <a:rPr lang="en-US" dirty="0"/>
              <a:t>      </a:t>
            </a:r>
            <a:r>
              <a:rPr lang="sq-AL" dirty="0"/>
              <a:t>26</a:t>
            </a:r>
            <a:br>
              <a:rPr lang="sq-AL" dirty="0"/>
            </a:br>
            <a:r>
              <a:rPr lang="sq-AL" dirty="0"/>
              <a:t>    6.1 Simbolet poligonale (objekte ndërtimore) .....................................................................</a:t>
            </a:r>
            <a:r>
              <a:rPr lang="en-US" dirty="0"/>
              <a:t>       </a:t>
            </a:r>
            <a:r>
              <a:rPr lang="sq-AL" dirty="0"/>
              <a:t>26</a:t>
            </a:r>
            <a:br>
              <a:rPr lang="sq-AL" dirty="0"/>
            </a:br>
            <a:r>
              <a:rPr lang="sq-AL" dirty="0"/>
              <a:t>    6.2 Simbolet lineare të rrjetit të gypave ............................................................................</a:t>
            </a:r>
            <a:r>
              <a:rPr lang="en-US" dirty="0"/>
              <a:t>...       </a:t>
            </a:r>
            <a:r>
              <a:rPr lang="sq-AL" dirty="0"/>
              <a:t>29</a:t>
            </a:r>
            <a:br>
              <a:rPr lang="sq-AL" dirty="0"/>
            </a:br>
            <a:r>
              <a:rPr lang="sq-AL" dirty="0"/>
              <a:t>    6.3 Simbolet e ujëmatësve .................................................................................................... </a:t>
            </a:r>
            <a:r>
              <a:rPr lang="en-US" dirty="0"/>
              <a:t>      </a:t>
            </a:r>
            <a:r>
              <a:rPr lang="sq-AL" dirty="0"/>
              <a:t>31</a:t>
            </a:r>
            <a:br>
              <a:rPr lang="sq-AL" dirty="0"/>
            </a:br>
            <a:r>
              <a:rPr lang="sq-AL" dirty="0"/>
              <a:t>      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57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583</Words>
  <Application>Microsoft Office PowerPoint</Application>
  <PresentationFormat>Widescreen</PresentationFormat>
  <Paragraphs>17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UNIVERSITETI I PRISHTINËS "HASAN PRISHTINA" FAKULTETI I NDËRTIMTARISË Departamenti: GJEODEZI (Studime Bachelor) </vt:lpstr>
      <vt:lpstr>Kapitulli 1: Hyrje </vt:lpstr>
      <vt:lpstr>Përmbajtja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UNIVERSITETI I PRISHTINËS "HASAN PRISHTINA" FAKULTETI I NDËRTIMTARISË Departamenti: GJEODEZI (Studime Bachelor)</dc:title>
  <dc:creator>Valon Sejdiu</dc:creator>
  <cp:lastModifiedBy>Valon Sejdiu</cp:lastModifiedBy>
  <cp:revision>7</cp:revision>
  <dcterms:created xsi:type="dcterms:W3CDTF">2026-01-23T15:11:57Z</dcterms:created>
  <dcterms:modified xsi:type="dcterms:W3CDTF">2026-01-23T16:08:00Z</dcterms:modified>
</cp:coreProperties>
</file>